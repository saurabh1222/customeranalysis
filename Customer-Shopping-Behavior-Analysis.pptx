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layfair Display"/>
      <p:regular r:id="rId17"/>
    </p:embeddedFont>
    <p:embeddedFont>
      <p:font typeface="Playfair Display"/>
      <p:regular r:id="rId18"/>
    </p:embeddedFont>
    <p:embeddedFont>
      <p:font typeface="Playfair Display"/>
      <p:regular r:id="rId19"/>
    </p:embeddedFont>
    <p:embeddedFont>
      <p:font typeface="Playfair Display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Uncovering insights from 3,900 purchases to guide strategic business decisions through data-driven analysis of spending patterns, customer segments, and product preferences.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91577"/>
            <a:ext cx="1968937" cy="426244"/>
          </a:xfrm>
          <a:prstGeom prst="roundRect">
            <a:avLst>
              <a:gd name="adj" fmla="val 6386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259562"/>
            <a:ext cx="169676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08547"/>
            <a:ext cx="68485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Foundation: Our Data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870835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1455420" y="39026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39304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Transactions analyzed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35893" y="2870835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18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5897523" y="39026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Points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35893" y="439304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Features per customer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77995" y="2870835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50</a:t>
            </a:r>
            <a:endParaRPr lang="en-US" sz="5850" dirty="0"/>
          </a:p>
        </p:txBody>
      </p:sp>
      <p:sp>
        <p:nvSpPr>
          <p:cNvPr id="12" name="Text 10"/>
          <p:cNvSpPr/>
          <p:nvPr/>
        </p:nvSpPr>
        <p:spPr>
          <a:xfrm>
            <a:off x="10339626" y="39026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Locations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77995" y="439304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Geographic coverage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50961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Features Tracked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3790" y="5790605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demographics: Age, Gender, Location, Subscription Status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Purchase details: Item, Category, Amount, Season, Size, Color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Shopping behavior: Discounts, Promo Codes, Previous Purchases, Review Ratings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95162"/>
            <a:ext cx="2139791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10101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7498" y="1425178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9675" y="1370767"/>
            <a:ext cx="158019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010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ANALYSIS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827371"/>
            <a:ext cx="76048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Preparation &amp; Cleaning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287631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01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3231356"/>
            <a:ext cx="6407944" cy="3048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8" name="Text 5"/>
          <p:cNvSpPr/>
          <p:nvPr/>
        </p:nvSpPr>
        <p:spPr>
          <a:xfrm>
            <a:off x="793790" y="3405664"/>
            <a:ext cx="36790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Loading &amp; Exploration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3790" y="389608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Imported dataset using pandas, checked structure with df.info() and summary statistics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428548" y="287631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428548" y="3231356"/>
            <a:ext cx="6408063" cy="3048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2" name="Text 9"/>
          <p:cNvSpPr/>
          <p:nvPr/>
        </p:nvSpPr>
        <p:spPr>
          <a:xfrm>
            <a:off x="7428548" y="3405664"/>
            <a:ext cx="29950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28548" y="3896082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Imputed 37 missing Review Rating values using median rating per product category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93790" y="50187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793790" y="5373767"/>
            <a:ext cx="6407944" cy="3048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6" name="Text 13"/>
          <p:cNvSpPr/>
          <p:nvPr/>
        </p:nvSpPr>
        <p:spPr>
          <a:xfrm>
            <a:off x="793790" y="55480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93790" y="6038493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age_group bins and purchase_frequency_days columns for deeper analysis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7428548" y="50187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9" name="Shape 16"/>
          <p:cNvSpPr/>
          <p:nvPr/>
        </p:nvSpPr>
        <p:spPr>
          <a:xfrm>
            <a:off x="7428548" y="5373767"/>
            <a:ext cx="6408063" cy="3048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20" name="Text 17"/>
          <p:cNvSpPr/>
          <p:nvPr/>
        </p:nvSpPr>
        <p:spPr>
          <a:xfrm>
            <a:off x="7428548" y="55480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428548" y="6038493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Connected to PostgreSQL and loaded cleaned data for SQL business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2787491"/>
            <a:ext cx="1738074" cy="426244"/>
          </a:xfrm>
          <a:prstGeom prst="roundRect">
            <a:avLst>
              <a:gd name="adj" fmla="val 6386"/>
            </a:avLst>
          </a:prstGeom>
          <a:solidFill>
            <a:srgbClr val="E3E3E8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78" y="2909888"/>
            <a:ext cx="181451" cy="1814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02055" y="2855476"/>
            <a:ext cx="11937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ANALYSIS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93790" y="3304461"/>
            <a:ext cx="61897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Business Questions</a:t>
            </a:r>
            <a:endParaRPr lang="en-US" sz="4450" dirty="0"/>
          </a:p>
        </p:txBody>
      </p:sp>
      <p:sp>
        <p:nvSpPr>
          <p:cNvPr id="7" name="Text 3"/>
          <p:cNvSpPr/>
          <p:nvPr/>
        </p:nvSpPr>
        <p:spPr>
          <a:xfrm>
            <a:off x="793790" y="435340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analysis in PostgreSQL revealed critical insights across revenue, customer behavior, and product performance to drive strategic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5603"/>
            <a:ext cx="78101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Revenue &amp; Customer Insights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19695"/>
            <a:ext cx="8284131" cy="438173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57412" y="673191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22222A"/>
          </a:solidFill>
          <a:ln/>
        </p:spPr>
      </p:sp>
      <p:sp>
        <p:nvSpPr>
          <p:cNvPr id="5" name="Text 2"/>
          <p:cNvSpPr/>
          <p:nvPr/>
        </p:nvSpPr>
        <p:spPr>
          <a:xfrm>
            <a:off x="4345186" y="6731913"/>
            <a:ext cx="51446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5012055" y="673191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6F6F8B"/>
          </a:solidFill>
          <a:ln/>
        </p:spPr>
      </p:sp>
      <p:sp>
        <p:nvSpPr>
          <p:cNvPr id="7" name="Text 4"/>
          <p:cNvSpPr/>
          <p:nvPr/>
        </p:nvSpPr>
        <p:spPr>
          <a:xfrm>
            <a:off x="5299829" y="6731913"/>
            <a:ext cx="7647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638943" y="28672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Gender Revenue Split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38943" y="3448407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customers generate 68% of total revenue ($157,890) compared to female customers at 32% ($75,191).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38943" y="4763929"/>
            <a:ext cx="40582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High-Spending Discount Users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638943" y="5345073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839 customers used discounts but still spent above average—indicating price-conscious yet valuable segments.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7463"/>
            <a:ext cx="7833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Product Performance Leaders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06968"/>
            <a:ext cx="3242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Top 5 Products by Rating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3214807"/>
            <a:ext cx="3524369" cy="283488"/>
          </a:xfrm>
          <a:prstGeom prst="roundRect">
            <a:avLst>
              <a:gd name="adj" fmla="val 12002"/>
            </a:avLst>
          </a:prstGeom>
          <a:solidFill>
            <a:srgbClr val="E0E0EC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214807"/>
            <a:ext cx="2713672" cy="283488"/>
          </a:xfrm>
          <a:prstGeom prst="roundRect">
            <a:avLst>
              <a:gd name="adj" fmla="val 12002"/>
            </a:avLst>
          </a:prstGeom>
          <a:solidFill>
            <a:srgbClr val="101014"/>
          </a:solidFill>
          <a:ln/>
        </p:spPr>
      </p:sp>
      <p:sp>
        <p:nvSpPr>
          <p:cNvPr id="6" name="Text 4"/>
          <p:cNvSpPr/>
          <p:nvPr/>
        </p:nvSpPr>
        <p:spPr>
          <a:xfrm>
            <a:off x="4488180" y="3214807"/>
            <a:ext cx="46422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77%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7816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Gloves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427208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3.86 average rating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35893" y="3214807"/>
            <a:ext cx="3524369" cy="283488"/>
          </a:xfrm>
          <a:prstGeom prst="roundRect">
            <a:avLst>
              <a:gd name="adj" fmla="val 12002"/>
            </a:avLst>
          </a:prstGeom>
          <a:solidFill>
            <a:srgbClr val="E0E0EC"/>
          </a:solidFill>
          <a:ln/>
        </p:spPr>
      </p:sp>
      <p:sp>
        <p:nvSpPr>
          <p:cNvPr id="10" name="Shape 8"/>
          <p:cNvSpPr/>
          <p:nvPr/>
        </p:nvSpPr>
        <p:spPr>
          <a:xfrm>
            <a:off x="5235893" y="3214807"/>
            <a:ext cx="2713672" cy="283488"/>
          </a:xfrm>
          <a:prstGeom prst="roundRect">
            <a:avLst>
              <a:gd name="adj" fmla="val 12002"/>
            </a:avLst>
          </a:prstGeom>
          <a:solidFill>
            <a:srgbClr val="101014"/>
          </a:solidFill>
          <a:ln/>
        </p:spPr>
      </p:sp>
      <p:sp>
        <p:nvSpPr>
          <p:cNvPr id="11" name="Text 9"/>
          <p:cNvSpPr/>
          <p:nvPr/>
        </p:nvSpPr>
        <p:spPr>
          <a:xfrm>
            <a:off x="8930283" y="3214807"/>
            <a:ext cx="46422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77%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35893" y="37816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Sandals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35893" y="427208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3.84 average rating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77995" y="3214807"/>
            <a:ext cx="3494365" cy="283488"/>
          </a:xfrm>
          <a:prstGeom prst="roundRect">
            <a:avLst>
              <a:gd name="adj" fmla="val 12002"/>
            </a:avLst>
          </a:prstGeom>
          <a:solidFill>
            <a:srgbClr val="E0E0EC"/>
          </a:solidFill>
          <a:ln/>
        </p:spPr>
      </p:sp>
      <p:sp>
        <p:nvSpPr>
          <p:cNvPr id="15" name="Shape 13"/>
          <p:cNvSpPr/>
          <p:nvPr/>
        </p:nvSpPr>
        <p:spPr>
          <a:xfrm>
            <a:off x="9677995" y="3214807"/>
            <a:ext cx="2655689" cy="283488"/>
          </a:xfrm>
          <a:prstGeom prst="roundRect">
            <a:avLst>
              <a:gd name="adj" fmla="val 12002"/>
            </a:avLst>
          </a:prstGeom>
          <a:solidFill>
            <a:srgbClr val="101014"/>
          </a:solidFill>
          <a:ln/>
        </p:spPr>
      </p:sp>
      <p:sp>
        <p:nvSpPr>
          <p:cNvPr id="16" name="Text 14"/>
          <p:cNvSpPr/>
          <p:nvPr/>
        </p:nvSpPr>
        <p:spPr>
          <a:xfrm>
            <a:off x="13342382" y="3214807"/>
            <a:ext cx="4942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76%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77995" y="37816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Boots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77995" y="427208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3.82 average rating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3790" y="5201960"/>
            <a:ext cx="3494365" cy="283488"/>
          </a:xfrm>
          <a:prstGeom prst="roundRect">
            <a:avLst>
              <a:gd name="adj" fmla="val 12002"/>
            </a:avLst>
          </a:prstGeom>
          <a:solidFill>
            <a:srgbClr val="E0E0EC"/>
          </a:solidFill>
          <a:ln/>
        </p:spPr>
      </p:sp>
      <p:sp>
        <p:nvSpPr>
          <p:cNvPr id="20" name="Shape 18"/>
          <p:cNvSpPr/>
          <p:nvPr/>
        </p:nvSpPr>
        <p:spPr>
          <a:xfrm>
            <a:off x="793790" y="5201960"/>
            <a:ext cx="2655689" cy="283488"/>
          </a:xfrm>
          <a:prstGeom prst="roundRect">
            <a:avLst>
              <a:gd name="adj" fmla="val 12002"/>
            </a:avLst>
          </a:prstGeom>
          <a:solidFill>
            <a:srgbClr val="101014"/>
          </a:solidFill>
          <a:ln/>
        </p:spPr>
      </p:sp>
      <p:sp>
        <p:nvSpPr>
          <p:cNvPr id="21" name="Text 19"/>
          <p:cNvSpPr/>
          <p:nvPr/>
        </p:nvSpPr>
        <p:spPr>
          <a:xfrm>
            <a:off x="4458176" y="5201960"/>
            <a:ext cx="4942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76%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3790" y="57688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Hat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93790" y="625923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3.80 average rating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5235893" y="5201960"/>
            <a:ext cx="3494365" cy="283488"/>
          </a:xfrm>
          <a:prstGeom prst="roundRect">
            <a:avLst>
              <a:gd name="adj" fmla="val 12002"/>
            </a:avLst>
          </a:prstGeom>
          <a:solidFill>
            <a:srgbClr val="E0E0EC"/>
          </a:solidFill>
          <a:ln/>
        </p:spPr>
      </p:sp>
      <p:sp>
        <p:nvSpPr>
          <p:cNvPr id="25" name="Shape 23"/>
          <p:cNvSpPr/>
          <p:nvPr/>
        </p:nvSpPr>
        <p:spPr>
          <a:xfrm>
            <a:off x="5235893" y="5201960"/>
            <a:ext cx="2655689" cy="283488"/>
          </a:xfrm>
          <a:prstGeom prst="roundRect">
            <a:avLst>
              <a:gd name="adj" fmla="val 12002"/>
            </a:avLst>
          </a:prstGeom>
          <a:solidFill>
            <a:srgbClr val="101014"/>
          </a:solidFill>
          <a:ln/>
        </p:spPr>
      </p:sp>
      <p:sp>
        <p:nvSpPr>
          <p:cNvPr id="26" name="Text 24"/>
          <p:cNvSpPr/>
          <p:nvPr/>
        </p:nvSpPr>
        <p:spPr>
          <a:xfrm>
            <a:off x="8900279" y="5201960"/>
            <a:ext cx="4942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76%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235893" y="57688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Skirt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235893" y="625923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3.78 average rating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6246"/>
            <a:ext cx="86135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Customer Segmentation Analysis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58653"/>
            <a:ext cx="2411968" cy="24119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2541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New Customers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74452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83 customers making their first purchase—opportunity for onboarding campaigns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558653"/>
            <a:ext cx="2411968" cy="2411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2541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Returning Buyers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74452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701 customers with 2-5 purchases—prime targets for loyalty programs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558653"/>
            <a:ext cx="2411968" cy="24119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2541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Loyal Advocates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74452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3,116 customers with 5+ purchases—our most valuable segment driving repeat revenue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39967" y="486489"/>
            <a:ext cx="1836777" cy="280154"/>
          </a:xfrm>
          <a:prstGeom prst="roundRect">
            <a:avLst>
              <a:gd name="adj" fmla="val 7046"/>
            </a:avLst>
          </a:prstGeom>
          <a:solidFill>
            <a:srgbClr val="E3E3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38551" y="560784"/>
            <a:ext cx="131564" cy="1315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35837" y="535781"/>
            <a:ext cx="144232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BI DASHBOARD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639967" y="814268"/>
            <a:ext cx="5183862" cy="513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Visual Analytics Dashboard</a:t>
            </a:r>
            <a:endParaRPr lang="en-US" sz="3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967" y="1641277"/>
            <a:ext cx="3711773" cy="49489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60601" y="3706535"/>
            <a:ext cx="2192536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Metrics at a Glance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760601" y="4082653"/>
            <a:ext cx="7237333" cy="454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filters enable deep-dive analysis by gender, category, shipping type, and subscription status.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1639967" y="6858595"/>
            <a:ext cx="3704034" cy="884396"/>
          </a:xfrm>
          <a:prstGeom prst="roundRect">
            <a:avLst>
              <a:gd name="adj" fmla="val 2790"/>
            </a:avLst>
          </a:prstGeom>
          <a:solidFill>
            <a:srgbClr val="E0E0EC"/>
          </a:solidFill>
          <a:ln/>
        </p:spPr>
      </p:sp>
      <p:sp>
        <p:nvSpPr>
          <p:cNvPr id="10" name="Text 6"/>
          <p:cNvSpPr/>
          <p:nvPr/>
        </p:nvSpPr>
        <p:spPr>
          <a:xfrm>
            <a:off x="1804392" y="7023021"/>
            <a:ext cx="2056209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$59.76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804392" y="7351514"/>
            <a:ext cx="3375184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purchase amount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63183" y="6858595"/>
            <a:ext cx="3704034" cy="884396"/>
          </a:xfrm>
          <a:prstGeom prst="roundRect">
            <a:avLst>
              <a:gd name="adj" fmla="val 2790"/>
            </a:avLst>
          </a:prstGeom>
          <a:solidFill>
            <a:srgbClr val="E0E0EC"/>
          </a:solidFill>
          <a:ln/>
        </p:spPr>
      </p:sp>
      <p:sp>
        <p:nvSpPr>
          <p:cNvPr id="13" name="Text 9"/>
          <p:cNvSpPr/>
          <p:nvPr/>
        </p:nvSpPr>
        <p:spPr>
          <a:xfrm>
            <a:off x="5627608" y="7023021"/>
            <a:ext cx="2056209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3.75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627608" y="7351514"/>
            <a:ext cx="3375184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review rating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9286399" y="6858595"/>
            <a:ext cx="3704034" cy="884396"/>
          </a:xfrm>
          <a:prstGeom prst="roundRect">
            <a:avLst>
              <a:gd name="adj" fmla="val 2790"/>
            </a:avLst>
          </a:prstGeom>
          <a:solidFill>
            <a:srgbClr val="E0E0EC"/>
          </a:solidFill>
          <a:ln/>
        </p:spPr>
      </p:sp>
      <p:sp>
        <p:nvSpPr>
          <p:cNvPr id="16" name="Text 12"/>
          <p:cNvSpPr/>
          <p:nvPr/>
        </p:nvSpPr>
        <p:spPr>
          <a:xfrm>
            <a:off x="9450824" y="7023021"/>
            <a:ext cx="2056209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27%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9450824" y="7351514"/>
            <a:ext cx="3375184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Subscription rate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5603"/>
            <a:ext cx="784359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Revenue Distribution Insights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19695"/>
            <a:ext cx="8284131" cy="4639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504361"/>
            <a:ext cx="29346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Category Performance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3085505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Clothing dominates with $100K revenue (45%), followed by Accessories at $70K (32%). Young Adults lead age groups with $62K total revenue.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47639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Shipping Preferences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38943" y="5345073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 shipping users spend $60.48 on average vs. $58.46 for Standard—indicating willingness to pay premium for speed.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1458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2555" y="2940725"/>
            <a:ext cx="5566767" cy="536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Strategic Recommendations</a:t>
            </a:r>
            <a:endParaRPr lang="en-US" sz="3350" dirty="0"/>
          </a:p>
        </p:txBody>
      </p:sp>
      <p:sp>
        <p:nvSpPr>
          <p:cNvPr id="4" name="Shape 1"/>
          <p:cNvSpPr/>
          <p:nvPr/>
        </p:nvSpPr>
        <p:spPr>
          <a:xfrm>
            <a:off x="1392555" y="3672007"/>
            <a:ext cx="5857637" cy="1816418"/>
          </a:xfrm>
          <a:prstGeom prst="roundRect">
            <a:avLst>
              <a:gd name="adj" fmla="val 1418"/>
            </a:avLst>
          </a:prstGeom>
          <a:solidFill>
            <a:srgbClr val="E0E0EC"/>
          </a:solidFill>
          <a:ln/>
        </p:spPr>
      </p:sp>
      <p:sp>
        <p:nvSpPr>
          <p:cNvPr id="5" name="Shape 2"/>
          <p:cNvSpPr/>
          <p:nvPr/>
        </p:nvSpPr>
        <p:spPr>
          <a:xfrm>
            <a:off x="1564124" y="3843576"/>
            <a:ext cx="514945" cy="514945"/>
          </a:xfrm>
          <a:prstGeom prst="roundRect">
            <a:avLst>
              <a:gd name="adj" fmla="val 17755460"/>
            </a:avLst>
          </a:prstGeom>
          <a:solidFill>
            <a:srgbClr val="10101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5689" y="3985141"/>
            <a:ext cx="231696" cy="2316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64124" y="4488418"/>
            <a:ext cx="2145863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Boost Subscriptions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564124" y="4834414"/>
            <a:ext cx="5514499" cy="4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exclusive benefits to convert the 73% non-subscribers—potential for significant recurring revenue growth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380089" y="3672007"/>
            <a:ext cx="5857637" cy="1816418"/>
          </a:xfrm>
          <a:prstGeom prst="roundRect">
            <a:avLst>
              <a:gd name="adj" fmla="val 1418"/>
            </a:avLst>
          </a:prstGeom>
          <a:solidFill>
            <a:srgbClr val="E0E0EC"/>
          </a:solidFill>
          <a:ln/>
        </p:spPr>
      </p:sp>
      <p:sp>
        <p:nvSpPr>
          <p:cNvPr id="10" name="Shape 6"/>
          <p:cNvSpPr/>
          <p:nvPr/>
        </p:nvSpPr>
        <p:spPr>
          <a:xfrm>
            <a:off x="7551658" y="3843576"/>
            <a:ext cx="514945" cy="514945"/>
          </a:xfrm>
          <a:prstGeom prst="roundRect">
            <a:avLst>
              <a:gd name="adj" fmla="val 17755460"/>
            </a:avLst>
          </a:prstGeom>
          <a:solidFill>
            <a:srgbClr val="10101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3223" y="3985141"/>
            <a:ext cx="231696" cy="2316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51658" y="4488418"/>
            <a:ext cx="2145863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Loyalty Programs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7551658" y="4834414"/>
            <a:ext cx="5514499" cy="4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repeat buyers to accelerate movement from Returning (701) to Loyal (3,116) segments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1392555" y="5618321"/>
            <a:ext cx="5857637" cy="1816418"/>
          </a:xfrm>
          <a:prstGeom prst="roundRect">
            <a:avLst>
              <a:gd name="adj" fmla="val 1418"/>
            </a:avLst>
          </a:prstGeom>
          <a:solidFill>
            <a:srgbClr val="E0E0EC"/>
          </a:solidFill>
          <a:ln/>
        </p:spPr>
      </p:sp>
      <p:sp>
        <p:nvSpPr>
          <p:cNvPr id="15" name="Shape 10"/>
          <p:cNvSpPr/>
          <p:nvPr/>
        </p:nvSpPr>
        <p:spPr>
          <a:xfrm>
            <a:off x="1564124" y="5789890"/>
            <a:ext cx="514945" cy="514945"/>
          </a:xfrm>
          <a:prstGeom prst="roundRect">
            <a:avLst>
              <a:gd name="adj" fmla="val 17755460"/>
            </a:avLst>
          </a:prstGeom>
          <a:solidFill>
            <a:srgbClr val="10101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05689" y="5931456"/>
            <a:ext cx="231696" cy="2316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64124" y="6434733"/>
            <a:ext cx="2145863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Optimize Discounts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1564124" y="6780728"/>
            <a:ext cx="5514499" cy="4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promotional sales with margin control—839 high-spenders use discounts strategically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7380089" y="5618321"/>
            <a:ext cx="5857637" cy="1816418"/>
          </a:xfrm>
          <a:prstGeom prst="roundRect">
            <a:avLst>
              <a:gd name="adj" fmla="val 1418"/>
            </a:avLst>
          </a:prstGeom>
          <a:solidFill>
            <a:srgbClr val="E0E0EC"/>
          </a:solidFill>
          <a:ln/>
        </p:spPr>
      </p:sp>
      <p:sp>
        <p:nvSpPr>
          <p:cNvPr id="20" name="Shape 14"/>
          <p:cNvSpPr/>
          <p:nvPr/>
        </p:nvSpPr>
        <p:spPr>
          <a:xfrm>
            <a:off x="7551658" y="5789890"/>
            <a:ext cx="514945" cy="514945"/>
          </a:xfrm>
          <a:prstGeom prst="roundRect">
            <a:avLst>
              <a:gd name="adj" fmla="val 17755460"/>
            </a:avLst>
          </a:prstGeom>
          <a:solidFill>
            <a:srgbClr val="101014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93223" y="5931456"/>
            <a:ext cx="231696" cy="2316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551658" y="6434733"/>
            <a:ext cx="2145863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Targeted Marketing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7551658" y="6780728"/>
            <a:ext cx="5514499" cy="4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campaigns on Young Adults, express-shipping users, and top-rated products like Gloves and Sandals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2026-02-14T08:17:23Z</dcterms:created>
  <dcterms:modified xsi:type="dcterms:W3CDTF">2026-02-14T08:17:23Z</dcterms:modified>
</cp:coreProperties>
</file>